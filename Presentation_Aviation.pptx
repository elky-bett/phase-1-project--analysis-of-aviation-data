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5" r:id="rId7"/>
    <p:sldId id="269" r:id="rId8"/>
    <p:sldId id="268" r:id="rId9"/>
    <p:sldId id="267" r:id="rId10"/>
    <p:sldId id="266" r:id="rId11"/>
    <p:sldId id="262" r:id="rId12"/>
    <p:sldId id="270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0662" autoAdjust="0"/>
    <p:restoredTop sz="94660"/>
  </p:normalViewPr>
  <p:slideViewPr>
    <p:cSldViewPr snapToGrid="0">
      <p:cViewPr varScale="1">
        <p:scale>
          <a:sx n="58" d="100"/>
          <a:sy n="58" d="100"/>
        </p:scale>
        <p:origin x="90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 b="1" i="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E66DA5-7751-4D3D-B753-58DF3B418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B787A8-0D67-4B7E-9B48-86BD906AB6B5}"/>
              </a:ext>
            </a:extLst>
          </p:cNvPr>
          <p:cNvCxnSpPr>
            <a:cxnSpLocks/>
          </p:cNvCxnSpPr>
          <p:nvPr/>
        </p:nvCxnSpPr>
        <p:spPr>
          <a:xfrm>
            <a:off x="715890" y="1114050"/>
            <a:ext cx="0" cy="5735637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9135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05CAAB-DBA2-4548-AD5F-01BB97FBB207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6365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FC2D1-D3FE-4B37-8740-57444421F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 b="1" i="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5AF550-086C-426E-A374-85DB395701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A58988-AD39-4AE9-8E6A-0907F0BE2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66319-82EE-408E-819F-8F8E6DBA7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1C8A6-777F-496D-8620-AE52BFC33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31F83B-57A8-4533-981C-D1FFAD2B6B6F}"/>
              </a:ext>
            </a:extLst>
          </p:cNvPr>
          <p:cNvCxnSpPr>
            <a:cxnSpLocks/>
          </p:cNvCxnSpPr>
          <p:nvPr/>
        </p:nvCxnSpPr>
        <p:spPr>
          <a:xfrm>
            <a:off x="715890" y="1701425"/>
            <a:ext cx="0" cy="5148262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85663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57166-6921-4546-BA2C-99E464681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5B9122-6371-4049-B57A-33DED7DA2F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14555D-0753-4312-A26B-2338813F9B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D8FDCB-69DA-4A8F-8B91-5CFF77897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AC8C07-E0D3-4464-AE3C-25730D75C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2596A6-734E-4AE0-BFB8-3089137B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B7E8F4-3FB3-45AB-A381-9093CA95AAE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4763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6B3EF2-2C04-480F-A570-14E520DD0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F5783E-3073-4F4D-8B9C-C5B18DDA5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A75FE3-6719-4790-AA00-251BC2A6E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2758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7596AF9-469C-436D-B7D2-77952EF1825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4817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FF36D6-399B-43E3-84DD-9FC5119EC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234AB7-3B85-4028-A500-5A1BDBF45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1F40F0-9909-442F-BBA4-409D061ED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53C1207-D1C8-49E3-8837-E2B89D366FA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7690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0F214-646F-4D81-AD12-65628EC98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71768-C3FA-49EF-99EF-06E6C3B28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DA6F24-ED6C-4D12-A9D6-EE37FBD68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6AACE-FAFB-4934-8E3C-AB5B21635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1533EA-D0F8-4C79-8721-F190DE2D2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59BAC9-F101-4394-BBA4-3D21A3497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F3A79C9-7EDC-44F6-AC48-5DD98A7695AD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952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CB71F-B6C2-4866-BC97-304F78816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5ED73B-8413-478D-80D7-B78B69763B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BDF226-1B94-4D2D-98B3-7B932FB17D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0C4E9A-CA29-4CCD-ACFA-B29F80FBA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A5B7BE-3F1B-4FF3-B1D7-6E39B99D0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2F18F1-E27E-470E-AE13-4755DEE63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0F08750-B7F2-4119-B151-68DE774813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3368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AD429-654B-4F0E-94E9-6FEF8EC67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8D60B2-06F5-4567-BE1F-BBA5270537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6F6F2-8269-4B80-8EE3-81FEE0F9D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BC86E4-3EDE-4EB4-B1A3-A1198AADD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752B0-ACEC-49EF-8131-FCF35BC5C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0462E3-375D-4E76-8886-69E06985D069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026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23B094-F480-477B-901C-7181F88C07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52089-A920-4E52-98DC-8A5DC7B0AC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A074FE-F1B4-421F-A66E-FA351C8F9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D764BA-3AB2-45FD-ABCB-975B3FDDF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FB3FEF-8252-49FD-82F2-3E5FABC65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AEB5C65-83BB-4EBD-AD22-EDA8489D0F5D}"/>
              </a:ext>
            </a:extLst>
          </p:cNvPr>
          <p:cNvCxnSpPr>
            <a:cxnSpLocks/>
          </p:cNvCxnSpPr>
          <p:nvPr/>
        </p:nvCxnSpPr>
        <p:spPr>
          <a:xfrm flipV="1">
            <a:off x="8313" y="261865"/>
            <a:ext cx="11353802" cy="1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9904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BC8A0-34FC-4B6E-B42B-A721267D89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4B53A7-3209-46A6-9454-F38EAC8F11E7}" type="datetimeFigureOut">
              <a:rPr lang="en-US" smtClean="0"/>
              <a:pPr/>
              <a:t>2/3/2026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9AC0B6-4CC4-4E41-8A4D-F62E17F285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CE633F-9882-4A5C-83A2-1109D0C7326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47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linkedin.com/in/elkybett" TargetMode="Externa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DFA23-D659-83E4-9030-6712E36BFF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Aviation Incident Analysis: Key Insights for Safer Operations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3689FB-E245-1B4F-5A03-852F11F081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Presentation by: </a:t>
            </a:r>
          </a:p>
          <a:p>
            <a:r>
              <a:rPr lang="en-US"/>
              <a:t>Eliud Kibet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3943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1F8B2-4599-2F34-0E12-BAD0E9194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6"/>
                </a:solidFill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3F9AA-41C0-4055-EC50-3F06181CAA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Business context</a:t>
            </a:r>
          </a:p>
          <a:p>
            <a:r>
              <a:rPr lang="en-US" dirty="0"/>
              <a:t>Data description</a:t>
            </a:r>
          </a:p>
          <a:p>
            <a:r>
              <a:rPr lang="en-US" dirty="0"/>
              <a:t>Data process steps</a:t>
            </a:r>
          </a:p>
          <a:p>
            <a:r>
              <a:rPr lang="en-US" dirty="0"/>
              <a:t>Results  </a:t>
            </a:r>
          </a:p>
          <a:p>
            <a:r>
              <a:rPr lang="en-US" dirty="0"/>
              <a:t>Conclusion</a:t>
            </a:r>
          </a:p>
          <a:p>
            <a:r>
              <a:rPr lang="en-US" dirty="0"/>
              <a:t>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1451804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3002D-0A99-305A-DDC5-6491EFBA0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6"/>
                </a:solidFill>
              </a:rPr>
              <a:t>Business context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96C3ECD-4A59-6BAD-5F57-F7CF7905712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104446"/>
            <a:ext cx="10329153" cy="38164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/>
              <a:t>Aviation incidents affect operators, passengers and regulatory compliance.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/>
              <a:t>Decision makers need clear evidence to prioritize safety interventions.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/>
              <a:t>Our analysis focuses on aircraft types, operator fatalities, and damage severity.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36904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D9C58-7E6E-670D-78A5-9FA69BD4B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6"/>
                </a:solidFill>
              </a:rPr>
              <a:t>Data description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10D735B-5511-103D-9E9A-1C7413B1D30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206041"/>
            <a:ext cx="10368064" cy="41190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2000" dirty="0"/>
              <a:t>The dataset comprised </a:t>
            </a:r>
            <a:r>
              <a:rPr lang="en-US" sz="2000" b="1" dirty="0"/>
              <a:t>1,250 aviation incident records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1,250 aviation incident records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000" b="1" dirty="0"/>
              <a:t>Cleaning steps were applied:</a:t>
            </a:r>
          </a:p>
          <a:p>
            <a:r>
              <a:rPr lang="en-US" sz="2000" dirty="0"/>
              <a:t>Short codes in the damage column were mapped into descriptive categories (</a:t>
            </a:r>
            <a:r>
              <a:rPr lang="en-US" sz="2000" i="1" dirty="0"/>
              <a:t>Write-Off, Substantial, Minor, No Damage</a:t>
            </a:r>
            <a:r>
              <a:rPr lang="en-US" sz="2000" dirty="0"/>
              <a:t>), while unknown or missing entries were treated as </a:t>
            </a:r>
            <a:r>
              <a:rPr lang="en-US" sz="2000" dirty="0" err="1"/>
              <a:t>NaN</a:t>
            </a:r>
            <a:r>
              <a:rPr lang="en-US" sz="2000" dirty="0"/>
              <a:t>.</a:t>
            </a:r>
          </a:p>
          <a:p>
            <a:r>
              <a:rPr lang="en-US" sz="2000" dirty="0"/>
              <a:t>One redundant column was deleted, duplicate records were removed and a new index was set for clarity.</a:t>
            </a:r>
          </a:p>
          <a:p>
            <a:r>
              <a:rPr lang="en-US" sz="2000" dirty="0"/>
              <a:t>Four columns were renamed to improve readability</a:t>
            </a:r>
          </a:p>
          <a:p>
            <a:r>
              <a:rPr lang="en-US" sz="2000" b="1" dirty="0"/>
              <a:t>Datatype corrections:</a:t>
            </a:r>
            <a:r>
              <a:rPr lang="en-US" sz="2000" dirty="0"/>
              <a:t> the </a:t>
            </a:r>
            <a:r>
              <a:rPr lang="en-US" sz="2000" dirty="0" err="1"/>
              <a:t>accident_date</a:t>
            </a:r>
            <a:r>
              <a:rPr lang="en-US" sz="2000" dirty="0"/>
              <a:t> (previously </a:t>
            </a:r>
            <a:r>
              <a:rPr lang="en-US" sz="2000" dirty="0" err="1"/>
              <a:t>crush_date</a:t>
            </a:r>
            <a:r>
              <a:rPr lang="en-US" sz="2000" dirty="0"/>
              <a:t>) and fatalities columns were converted to appropriate datatypes (datetime and float respectively) to support accurate computation and visualization</a:t>
            </a:r>
            <a:endParaRPr lang="en-US" altLang="en-US" sz="2000" dirty="0">
              <a:latin typeface="Arial Unicode MS"/>
            </a:endParaRPr>
          </a:p>
        </p:txBody>
      </p:sp>
    </p:spTree>
    <p:extLst>
      <p:ext uri="{BB962C8B-B14F-4D97-AF65-F5344CB8AC3E}">
        <p14:creationId xmlns:p14="http://schemas.microsoft.com/office/powerpoint/2010/main" val="2493395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96746-1648-D73C-3352-C5D821EE1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6"/>
                </a:solidFill>
              </a:rPr>
              <a:t>Data processing steps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2840DFC-9DF5-9CA4-6DD0-97E87B214A4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96793" y="2037329"/>
            <a:ext cx="9998413" cy="36492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en-US" sz="2400" dirty="0"/>
              <a:t>1. Exploratory data analysis was run</a:t>
            </a:r>
          </a:p>
          <a:p>
            <a:pPr marL="0" indent="0">
              <a:buNone/>
            </a:pPr>
            <a:r>
              <a:rPr lang="en-US" sz="2400" dirty="0"/>
              <a:t>2. Filter Data </a:t>
            </a:r>
          </a:p>
          <a:p>
            <a:pPr marL="0" indent="0">
              <a:buNone/>
            </a:pPr>
            <a:r>
              <a:rPr lang="en-US" sz="2400" dirty="0"/>
              <a:t>    - Deleted one column- "Unnamed: 0"</a:t>
            </a:r>
          </a:p>
          <a:p>
            <a:pPr marL="0" indent="0">
              <a:buNone/>
            </a:pPr>
            <a:r>
              <a:rPr lang="en-US" sz="2400" dirty="0"/>
              <a:t>    - Deleted duplicate data- 1250 rows were found to be duplicates</a:t>
            </a:r>
          </a:p>
          <a:p>
            <a:pPr marL="0" indent="0">
              <a:buNone/>
            </a:pPr>
            <a:r>
              <a:rPr lang="en-US" sz="2400" dirty="0"/>
              <a:t>    - New index set</a:t>
            </a:r>
          </a:p>
          <a:p>
            <a:pPr marL="0" indent="0">
              <a:buNone/>
            </a:pPr>
            <a:r>
              <a:rPr lang="en-US" sz="2400" dirty="0"/>
              <a:t>    - Renamed 4 columns</a:t>
            </a:r>
          </a:p>
          <a:p>
            <a:pPr marL="0" indent="0">
              <a:buNone/>
            </a:pPr>
            <a:r>
              <a:rPr lang="en-US" sz="2400" dirty="0"/>
              <a:t>    - Changed "</a:t>
            </a:r>
            <a:r>
              <a:rPr lang="en-US" sz="2400" dirty="0" err="1"/>
              <a:t>acc_date</a:t>
            </a:r>
            <a:r>
              <a:rPr lang="en-US" sz="2400" dirty="0"/>
              <a:t>" and "fat" column datatypes</a:t>
            </a:r>
          </a:p>
          <a:p>
            <a:r>
              <a:rPr lang="en-US" sz="2400" dirty="0"/>
              <a:t>3- Visualization</a:t>
            </a:r>
          </a:p>
        </p:txBody>
      </p:sp>
    </p:spTree>
    <p:extLst>
      <p:ext uri="{BB962C8B-B14F-4D97-AF65-F5344CB8AC3E}">
        <p14:creationId xmlns:p14="http://schemas.microsoft.com/office/powerpoint/2010/main" val="905204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FFFA8-D63D-4675-69D5-A6938AB35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6"/>
                </a:solidFill>
              </a:rPr>
              <a:t>Result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955C02-7873-89BB-2379-86633D3A5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3183" y="1810126"/>
            <a:ext cx="10515600" cy="4351338"/>
          </a:xfrm>
        </p:spPr>
        <p:txBody>
          <a:bodyPr/>
          <a:lstStyle/>
          <a:p>
            <a:r>
              <a:rPr lang="en-US" i="1" dirty="0"/>
              <a:t>Aircraft Types: </a:t>
            </a:r>
            <a:r>
              <a:rPr lang="en-US" dirty="0"/>
              <a:t>Top 5 models dominate incident records. 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E23C09-7605-A459-9BB8-8B2EF17651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8262" y="2414991"/>
            <a:ext cx="9270585" cy="4077884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1247728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E77BE-26FF-05BA-2989-CFAEE3100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E95A1-A100-0ECE-C3AC-2E435B2CD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1469"/>
          </a:xfrm>
        </p:spPr>
        <p:txBody>
          <a:bodyPr/>
          <a:lstStyle/>
          <a:p>
            <a:r>
              <a:rPr lang="en-US" b="1" dirty="0">
                <a:solidFill>
                  <a:schemeClr val="accent6"/>
                </a:solidFill>
              </a:rPr>
              <a:t>Result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1FC6B-4468-4522-DF2E-AF0A37268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3183" y="1810126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49C3C2-36E7-1187-25FF-56604DFBAE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183" y="1246594"/>
            <a:ext cx="9281348" cy="5478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245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82ED2-C795-83ED-EA63-6FA634E82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FAA16-68C8-E2B2-1DCA-AF542F9B4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6"/>
                </a:solidFill>
              </a:rPr>
              <a:t>Result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A6150-8143-7D00-3715-166E9103CF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3183" y="1810126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few operators account for most aircraft fatalities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884D48-0094-7D20-5BC9-C28168F5C5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405" y="2661819"/>
            <a:ext cx="7793065" cy="3982485"/>
          </a:xfrm>
          <a:prstGeom prst="rect">
            <a:avLst/>
          </a:prstGeom>
          <a:ln>
            <a:solidFill>
              <a:srgbClr val="00B050"/>
            </a:solidFill>
          </a:ln>
        </p:spPr>
      </p:pic>
    </p:spTree>
    <p:extLst>
      <p:ext uri="{BB962C8B-B14F-4D97-AF65-F5344CB8AC3E}">
        <p14:creationId xmlns:p14="http://schemas.microsoft.com/office/powerpoint/2010/main" val="12403756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1177E-B632-6AFE-F5D4-65D613899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7240F-F504-DE04-5AA9-7A212645B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6"/>
                </a:solidFill>
              </a:rPr>
              <a:t>Result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A6C94-7012-985D-8BEE-9BC6FF3867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Severe damage (Write-Off, Substantial) is most common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0BADB8-D0E9-2AF7-3C49-EE54E3EE4F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691" y="2735892"/>
            <a:ext cx="6636423" cy="3756983"/>
          </a:xfrm>
          <a:prstGeom prst="rect">
            <a:avLst/>
          </a:prstGeom>
          <a:ln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3088206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4C21F-60FF-E946-FE31-3EB172078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6"/>
                </a:solidFill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6537B-4E9D-EA86-2B41-2FCE3DEFC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sz="2400" dirty="0"/>
              <a:t>The top 5 most common aircraft types dominate the dataset, suggesting that incident reporting is concentrated among widely used models. </a:t>
            </a:r>
          </a:p>
          <a:p>
            <a:pPr algn="just"/>
            <a:r>
              <a:rPr lang="en-US" sz="2400" dirty="0"/>
              <a:t>A small number of operators account for disproportionately high fatalities</a:t>
            </a:r>
          </a:p>
          <a:p>
            <a:pPr algn="just"/>
            <a:r>
              <a:rPr lang="en-US" sz="2400" dirty="0"/>
              <a:t>The majority of incidents fall under Write-Off and Substantial damage categories, while Minor and No Damage are relatively rare. The presence of missing/unknown entries highlights gaps in reporting consistency and data quality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125015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C2358-CB57-BE4D-BA25-2B92B8772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6"/>
                </a:solidFill>
              </a:rPr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8655A-7707-0CFA-2157-AB016ACFDC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There is need for deeper analysis on the top 5 aircraft types to identify whether their high incident counts are purely due to usage volume or linked to specific safety vulnerabilities.</a:t>
            </a:r>
          </a:p>
          <a:p>
            <a:r>
              <a:rPr lang="en-US" sz="2400" dirty="0"/>
              <a:t> Strengthen reporting standards to minimize “Unknown” or “Missing” classifications.</a:t>
            </a:r>
          </a:p>
          <a:p>
            <a:r>
              <a:rPr lang="en-US" sz="2400" dirty="0"/>
              <a:t> Extend the study to temporal trends (accident dates) and geographic distribution (locations) to uncover patterns that could inform preventive measures</a:t>
            </a:r>
          </a:p>
        </p:txBody>
      </p:sp>
    </p:spTree>
    <p:extLst>
      <p:ext uri="{BB962C8B-B14F-4D97-AF65-F5344CB8AC3E}">
        <p14:creationId xmlns:p14="http://schemas.microsoft.com/office/powerpoint/2010/main" val="14168659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AB7F58B-E67C-1B75-5E5F-800802AD3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03437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934843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7593E7A-4CA7-2367-E659-33362B19F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6000" b="1" dirty="0"/>
              <a:t>Thank you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8BCCA0-852E-D764-A5AC-5273414E8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4555374"/>
            <a:ext cx="8536968" cy="1313613"/>
          </a:xfrm>
        </p:spPr>
        <p:txBody>
          <a:bodyPr>
            <a:normAutofit/>
          </a:bodyPr>
          <a:lstStyle/>
          <a:p>
            <a:r>
              <a:rPr lang="en-US" sz="2000" b="1" dirty="0"/>
              <a:t>Profile</a:t>
            </a:r>
          </a:p>
          <a:p>
            <a:r>
              <a:rPr lang="en-US" sz="2000" dirty="0"/>
              <a:t>Eliud Kibet</a:t>
            </a:r>
          </a:p>
          <a:p>
            <a:r>
              <a:rPr lang="en-US" sz="2000" dirty="0" err="1"/>
              <a:t>LinkeIn</a:t>
            </a:r>
            <a:r>
              <a:rPr lang="en-US" sz="2000" dirty="0"/>
              <a:t>: </a:t>
            </a:r>
            <a:r>
              <a:rPr lang="en-US" sz="2000" dirty="0">
                <a:hlinkClick r:id="rId2"/>
              </a:rPr>
              <a:t>www.linkedin.com/in/elkybett</a:t>
            </a:r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48637358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Gradient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814DFF"/>
      </a:accent1>
      <a:accent2>
        <a:srgbClr val="243FFF"/>
      </a:accent2>
      <a:accent3>
        <a:srgbClr val="FF83B6"/>
      </a:accent3>
      <a:accent4>
        <a:srgbClr val="FF9022"/>
      </a:accent4>
      <a:accent5>
        <a:srgbClr val="FF1F85"/>
      </a:accent5>
      <a:accent6>
        <a:srgbClr val="1A98FF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VTI" id="{605F9078-86F9-4258-A3E1-F8EFF02AE8CC}" vid="{4848699B-BB01-41E3-9EC4-3D97DFE5292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Gradient</Template>
  <TotalTime>35</TotalTime>
  <Words>424</Words>
  <Application>Microsoft Office PowerPoint</Application>
  <PresentationFormat>Widescreen</PresentationFormat>
  <Paragraphs>56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Arial Unicode MS</vt:lpstr>
      <vt:lpstr>Univers</vt:lpstr>
      <vt:lpstr>GradientVTI</vt:lpstr>
      <vt:lpstr>Aviation Incident Analysis: Key Insights for Safer Operations</vt:lpstr>
      <vt:lpstr>Outline</vt:lpstr>
      <vt:lpstr>Business context</vt:lpstr>
      <vt:lpstr>Data description</vt:lpstr>
      <vt:lpstr>Data processing steps</vt:lpstr>
      <vt:lpstr>Result</vt:lpstr>
      <vt:lpstr>Result</vt:lpstr>
      <vt:lpstr>Result</vt:lpstr>
      <vt:lpstr>Result</vt:lpstr>
      <vt:lpstr>Conclusion</vt:lpstr>
      <vt:lpstr>Recommendations</vt:lpstr>
      <vt:lpstr>Questions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young lits</dc:creator>
  <cp:lastModifiedBy>young lits</cp:lastModifiedBy>
  <cp:revision>14</cp:revision>
  <dcterms:created xsi:type="dcterms:W3CDTF">2026-02-02T20:51:06Z</dcterms:created>
  <dcterms:modified xsi:type="dcterms:W3CDTF">2026-02-03T07:04:38Z</dcterms:modified>
</cp:coreProperties>
</file>
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5" r:id="rId8"/>
    <p:sldId id="268" r:id="rId9"/>
    <p:sldId id="267" r:id="rId10"/>
    <p:sldId id="266" r:id="rId11"/>
    <p:sldId id="262" r:id="rId12"/>
    <p:sldId id="270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662" autoAdjust="0"/>
    <p:restoredTop sz="94660"/>
  </p:normalViewPr>
  <p:slideViewPr>
    <p:cSldViewPr snapToGrid="0">
      <p:cViewPr varScale="1">
        <p:scale>
          <a:sx n="36" d="100"/>
          <a:sy n="36" d="100"/>
        </p:scale>
        <p:origin x="7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elkybett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FA23-D659-83E4-9030-6712E36BFF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Aviation Incident Analysis: Key Insights for Safer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689FB-E245-1B4F-5A03-852F11F081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Presentation by: </a:t>
            </a:r>
          </a:p>
          <a:p>
            <a:r>
              <a:rPr lang="en-US"/>
              <a:t>Eliud Kibet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9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F8B2-4599-2F34-0E12-BAD0E919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3F9AA-41C0-4055-EC50-3F06181CA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context</a:t>
            </a:r>
          </a:p>
          <a:p>
            <a:r>
              <a:rPr lang="en-US" dirty="0"/>
              <a:t>Data description</a:t>
            </a:r>
          </a:p>
          <a:p>
            <a:r>
              <a:rPr lang="en-US" dirty="0"/>
              <a:t>Data process steps</a:t>
            </a:r>
          </a:p>
          <a:p>
            <a:r>
              <a:rPr lang="en-US" dirty="0"/>
              <a:t>Results  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45180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002D-0A99-305A-DDC5-6491EFBA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Business context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6C3ECD-4A59-6BAD-5F57-F7CF790571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58389"/>
            <a:ext cx="1032915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Aviation incidents carry high human and financial costs. A such, regulators and operators require clear, data‑driven insights to target safety improvements where they matter most.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This analysis thus highlights patterns in aircraft types, operator fatalities and damage severity to guide effective interventions.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69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9C58-7E6E-670D-78A5-9FA69BD4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Data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0D735B-5511-103D-9E9A-1C7413B1D3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60038"/>
            <a:ext cx="10368064" cy="3011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Our dataset comprised </a:t>
            </a:r>
            <a:r>
              <a:rPr lang="en-US" sz="2000" b="1" dirty="0"/>
              <a:t>1,250 aviation incident records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1,250 aviation incident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/>
              <a:t>Cleaning steps were applied:</a:t>
            </a:r>
          </a:p>
          <a:p>
            <a:r>
              <a:rPr lang="en-US" sz="2000" dirty="0"/>
              <a:t>Damage codes were standardized into clear categories (Write‑Off, Substantial, Minor, No Damage).</a:t>
            </a:r>
          </a:p>
          <a:p>
            <a:r>
              <a:rPr lang="en-US" sz="2000" dirty="0"/>
              <a:t>Duplicate records and redundant columns were removed.</a:t>
            </a:r>
          </a:p>
          <a:p>
            <a:r>
              <a:rPr lang="en-US" sz="2000" dirty="0"/>
              <a:t>Key fields were renamed for clarity.</a:t>
            </a:r>
          </a:p>
          <a:p>
            <a:r>
              <a:rPr lang="en-US" sz="2000" dirty="0"/>
              <a:t>Dates and fatalities were converted to correct formats.</a:t>
            </a:r>
          </a:p>
        </p:txBody>
      </p:sp>
    </p:spTree>
    <p:extLst>
      <p:ext uri="{BB962C8B-B14F-4D97-AF65-F5344CB8AC3E}">
        <p14:creationId xmlns:p14="http://schemas.microsoft.com/office/powerpoint/2010/main" val="249339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96746-1648-D73C-3352-C5D821EE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Data processing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840DFC-9DF5-9CA4-6DD0-97E87B214A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7537"/>
            <a:ext cx="999841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dirty="0"/>
              <a:t>The process followed three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3722E-F5EF-EB42-1371-91E2D7149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7" t="12390" r="23761" b="10169"/>
          <a:stretch>
            <a:fillRect/>
          </a:stretch>
        </p:blipFill>
        <p:spPr>
          <a:xfrm>
            <a:off x="6583680" y="1027906"/>
            <a:ext cx="4887883" cy="579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0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77BE-26FF-05BA-2989-CFAEE310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95A1-A100-0ECE-C3AC-2E435B2C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1469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1FC6B-4468-4522-DF2E-AF0A37268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183" y="181012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9C3C2-36E7-1187-25FF-56604DFBA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83" y="1246594"/>
            <a:ext cx="9281348" cy="547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4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FFA8-D63D-4675-69D5-A6938AB3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55C02-7873-89BB-2379-86633D3A5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754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Only five aircraft types account for the majority of incidents, suggesting that widely used models concentrate risk exposure.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E23C09-7605-A459-9BB8-8B2EF1765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262" y="2414991"/>
            <a:ext cx="9270585" cy="407788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2477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82ED2-C795-83ED-EA63-6FA634E8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AA16-68C8-E2B2-1DCA-AF542F9B4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6150-8143-7D00-3715-166E9103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57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Fatalities are disproportionately concentrated among a small number of operators. This indicates that targeted safety audits and operator‑specific interventions could significantly reduce overall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84D48-0094-7D20-5BC9-C28168F5C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592" y="2510390"/>
            <a:ext cx="7793065" cy="3982485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240375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177E-B632-6AFE-F5D4-65D61389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240F-F504-DE04-5AA9-7A212645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A6C94-7012-985D-8BEE-9BC6FF386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Severe damage categories (Write‑Off and Substantial) dominate the dataset. Critically, 97% of fatalities occur in write‑off incidents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BADB8-D0E9-2AF7-3C49-EE54E3EE4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691" y="2735892"/>
            <a:ext cx="6636423" cy="3756983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08820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C21F-60FF-E946-FE31-3EB17207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6537B-4E9D-EA86-2B41-2FCE3DEFC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8423"/>
            <a:ext cx="10515600" cy="399853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From the analysis it is observed that;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Incident reporting is concentrated among a handful of aircraft types.</a:t>
            </a:r>
          </a:p>
          <a:p>
            <a:r>
              <a:rPr lang="en-US" sz="2400" dirty="0"/>
              <a:t>A few operators account for most fatalities.</a:t>
            </a:r>
          </a:p>
          <a:p>
            <a:r>
              <a:rPr lang="en-US" sz="2400" dirty="0"/>
              <a:t>Severe damage categories drive nearly all fatal outcomes.</a:t>
            </a:r>
          </a:p>
          <a:p>
            <a:r>
              <a:rPr lang="en-US" sz="2400" dirty="0"/>
              <a:t>Missing or inconsistent data highlights the need for stronger reporting standards.</a:t>
            </a:r>
          </a:p>
        </p:txBody>
      </p:sp>
    </p:spTree>
    <p:extLst>
      <p:ext uri="{BB962C8B-B14F-4D97-AF65-F5344CB8AC3E}">
        <p14:creationId xmlns:p14="http://schemas.microsoft.com/office/powerpoint/2010/main" val="3112501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2358-CB57-BE4D-BA25-2B92B8772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655A-7707-0CFA-2157-AB016ACFD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r>
              <a:rPr lang="en-US" sz="2400" dirty="0"/>
              <a:t>There is need to investigate high‑incident aircraft types to distinguish between usage volume and design vulnerabilities.</a:t>
            </a:r>
          </a:p>
          <a:p>
            <a:r>
              <a:rPr lang="en-US" sz="2400" dirty="0"/>
              <a:t>Conduct operator specific audits targeting those with disproportionate fatalities.</a:t>
            </a:r>
          </a:p>
          <a:p>
            <a:r>
              <a:rPr lang="en-US" sz="2400" dirty="0"/>
              <a:t>Strengthen reporting standards to reduce missing or unknown classifications.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6865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B7F58B-E67C-1B75-5E5F-800802AD3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934843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593E7A-4CA7-2367-E659-33362B19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8BCCA0-852E-D764-A5AC-5273414E8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555374"/>
            <a:ext cx="8536968" cy="1313613"/>
          </a:xfrm>
        </p:spPr>
        <p:txBody>
          <a:bodyPr>
            <a:normAutofit/>
          </a:bodyPr>
          <a:lstStyle/>
          <a:p>
            <a:r>
              <a:rPr lang="en-US" sz="2000" dirty="0"/>
              <a:t>Connect with me on:</a:t>
            </a:r>
          </a:p>
          <a:p>
            <a:r>
              <a:rPr lang="en-US" sz="2000" dirty="0" err="1"/>
              <a:t>LinkeIn</a:t>
            </a:r>
            <a:r>
              <a:rPr lang="en-US" sz="2000" dirty="0"/>
              <a:t>: </a:t>
            </a:r>
            <a:r>
              <a:rPr lang="en-US" sz="2000" dirty="0">
                <a:hlinkClick r:id="rId2"/>
              </a:rPr>
              <a:t>www.linkedin.com/in/elkybett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863735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</Template>
  <TotalTime>56</TotalTime>
  <Words>332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Univers</vt:lpstr>
      <vt:lpstr>GradientVTI</vt:lpstr>
      <vt:lpstr>Aviation Incident Analysis: Key Insights for Safer Operations</vt:lpstr>
      <vt:lpstr>Outline</vt:lpstr>
      <vt:lpstr>Business context</vt:lpstr>
      <vt:lpstr>Data description</vt:lpstr>
      <vt:lpstr>Data processing steps</vt:lpstr>
      <vt:lpstr>Result</vt:lpstr>
      <vt:lpstr>Result</vt:lpstr>
      <vt:lpstr>Result</vt:lpstr>
      <vt:lpstr>Result</vt:lpstr>
      <vt:lpstr>Conclusion</vt:lpstr>
      <vt:lpstr>Recommendations</vt:lpstr>
      <vt:lpstr>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lits</dc:creator>
  <cp:lastModifiedBy>young lits</cp:lastModifiedBy>
  <cp:revision>18</cp:revision>
  <dcterms:created xsi:type="dcterms:W3CDTF">2026-02-02T20:51:06Z</dcterms:created>
  <dcterms:modified xsi:type="dcterms:W3CDTF">2026-02-03T09:57:00Z</dcterms:modified>
</cp:coreProperties>
</file>